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charts/chart1.xml" ContentType="application/vnd.openxmlformats-officedocument.drawingml.chart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On track</c:v>
                </c:pt>
              </c:strCache>
            </c:strRef>
          </c:tx>
          <c:spPr>
            <a:solidFill>
              <a:srgbClr val="2E9E6B"/>
            </a:solidFill>
            <a:effectLst/>
          </c:spPr>
          <c:invertIfNegative val="0"/>
          <c:dLbls>
            <c:numFmt formatCode="#;;;" sourceLinked="0"/>
            <c:txPr>
              <a:bodyPr/>
              <a:lstStyle/>
              <a:p>
                <a:pPr>
                  <a:defRPr b="1" i="0" strike="noStrike" sz="1100" u="none">
                    <a:solidFill>
                      <a:srgbClr val="FFFFFF"/>
                    </a:solidFill>
                    <a:latin typeface="Calibri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Databricks</c:v>
                  </c:pt>
                  <c:pt idx="1">
                    <c:v>Microsoft Fabric</c:v>
                  </c:pt>
                  <c:pt idx="2">
                    <c:v>Power BI</c:v>
                  </c:pt>
                  <c:pt idx="3">
                    <c:v>Claude</c:v>
                  </c:pt>
                  <c:pt idx="4">
                    <c:v>ThoughtSpot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5</c:v>
                </c:pt>
                <c:pt idx="1">
                  <c:v>2</c:v>
                </c:pt>
                <c:pt idx="2">
                  <c:v>3</c:v>
                </c:pt>
                <c:pt idx="3">
                  <c:v>3</c:v>
                </c:pt>
                <c:pt idx="4">
                  <c:v>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At risk</c:v>
                </c:pt>
              </c:strCache>
            </c:strRef>
          </c:tx>
          <c:spPr>
            <a:solidFill>
              <a:srgbClr val="E89B00"/>
            </a:solidFill>
            <a:effectLst/>
          </c:spPr>
          <c:invertIfNegative val="0"/>
          <c:dLbls>
            <c:numFmt formatCode="#;;;" sourceLinked="0"/>
            <c:txPr>
              <a:bodyPr/>
              <a:lstStyle/>
              <a:p>
                <a:pPr>
                  <a:defRPr b="1" i="0" strike="noStrike" sz="1100" u="none">
                    <a:solidFill>
                      <a:srgbClr val="FFFFFF"/>
                    </a:solidFill>
                    <a:latin typeface="Calibri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Databricks</c:v>
                  </c:pt>
                  <c:pt idx="1">
                    <c:v>Microsoft Fabric</c:v>
                  </c:pt>
                  <c:pt idx="2">
                    <c:v>Power BI</c:v>
                  </c:pt>
                  <c:pt idx="3">
                    <c:v>Claude</c:v>
                  </c:pt>
                  <c:pt idx="4">
                    <c:v>ThoughtSpot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0</c:v>
                </c:pt>
                <c:pt idx="1">
                  <c:v>1</c:v>
                </c:pt>
                <c:pt idx="2">
                  <c:v>1</c:v>
                </c:pt>
                <c:pt idx="3">
                  <c:v>1</c:v>
                </c:pt>
                <c:pt idx="4">
                  <c:v>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Blocked</c:v>
                </c:pt>
              </c:strCache>
            </c:strRef>
          </c:tx>
          <c:spPr>
            <a:solidFill>
              <a:srgbClr val="D64545"/>
            </a:solidFill>
            <a:effectLst/>
          </c:spPr>
          <c:invertIfNegative val="0"/>
          <c:dLbls>
            <c:numFmt formatCode="#;;;" sourceLinked="0"/>
            <c:txPr>
              <a:bodyPr/>
              <a:lstStyle/>
              <a:p>
                <a:pPr>
                  <a:defRPr b="1" i="0" strike="noStrike" sz="1100" u="none">
                    <a:solidFill>
                      <a:srgbClr val="FFFFFF"/>
                    </a:solidFill>
                    <a:latin typeface="Calibri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Databricks</c:v>
                  </c:pt>
                  <c:pt idx="1">
                    <c:v>Microsoft Fabric</c:v>
                  </c:pt>
                  <c:pt idx="2">
                    <c:v>Power BI</c:v>
                  </c:pt>
                  <c:pt idx="3">
                    <c:v>Claude</c:v>
                  </c:pt>
                  <c:pt idx="4">
                    <c:v>ThoughtSpot</c:v>
                  </c:pt>
                </c:lvl>
              </c:multiLvlStrCache>
            </c:multiLvl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1</c:v>
                </c:pt>
                <c:pt idx="4">
                  <c:v>0</c:v>
                </c:pt>
              </c:numCache>
            </c:numRef>
          </c:val>
        </c:ser>
        <c:dLbls>
          <c:numFmt formatCode="#;;;" sourceLinked="0"/>
          <c:txPr>
            <a:bodyPr/>
            <a:lstStyle/>
            <a:p>
              <a:pPr>
                <a:defRPr b="1" i="0" strike="noStrike" sz="1100" u="none">
                  <a:solidFill>
                    <a:srgbClr val="FFFFFF"/>
                  </a:solidFill>
                  <a:latin typeface="Calibri"/>
                </a:defRPr>
              </a:pPr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overlap val="10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B2433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5F6B80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Opening: 17 of 21 workstreams on track; a CISO review and a Fabric capacity call clear 3 of 4 risks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Seventeen of twenty-one workstreams are green. The portfolio is amber because one item is blocked: the Claude Code pilot is waiting on an InfoSec reviewer. Three more are amber, two of them tied to Fabric capacity during month-end close.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Direct Lake has cut average report load time from 9.1 to 2.4 seconds. Serverless SQL is already saving about 11% of DBU spend. Nine of twelve certified KPIs are live, and model deployments now take minutes instead of hours.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asks are simple. We need the CISO to assign a reviewer for the Claude Code pilot, and a capacity decision on Fabric by October 30. The P-SKU exit keeps $48K a year in reach if we cut over Oct 27 to 29, ahead of the November 15 renewal.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Databricks, ThoughtSpot and Power BI are largely green. Claude has the only red item plus one amber on SSO provisioning for the General group. Fabric's amber is the capacity question.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Most milestones land between November 4 and 13. Next from the backlog: customer-facing Liveboards, a shipment-exception triage agent, two new Claude skills, and Genie spaces for Sales and Service.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&amp; AI Portfolio  ·  Executive Update  ·  October 22, 2026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F6B8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0F1E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F6B8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486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00A9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Update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17320"/>
            <a:ext cx="7498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&amp; AI Portfolio</a:t>
            </a:r>
            <a:endParaRPr lang="en-US" sz="4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51460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C9D3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of 21 workstreams on track; a CISO review and a Fabric capacity call clear 3 of 4 risks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84048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93A1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&amp; AI – Oct 2026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93A1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Oct 22 – Nov 19, 2026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598932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3A1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as of Thursday, October 22, 2026  ·  Prepared by Ron L'Esteve</a:t>
            </a:r>
            <a:endParaRPr lang="en-US" sz="1200" dirty="0"/>
          </a:p>
        </p:txBody>
      </p:sp>
      <p:sp>
        <p:nvSpPr>
          <p:cNvPr id="7" name="status-panel"/>
          <p:cNvSpPr/>
          <p:nvPr/>
        </p:nvSpPr>
        <p:spPr>
          <a:xfrm>
            <a:off x="8366760" y="1097280"/>
            <a:ext cx="3291840" cy="4480560"/>
          </a:xfrm>
          <a:prstGeom prst="roundRect">
            <a:avLst>
              <a:gd name="adj" fmla="val 3333"/>
            </a:avLst>
          </a:prstGeom>
          <a:solidFill>
            <a:srgbClr val="1C2E55"/>
          </a:solidFill>
          <a:ln w="12700">
            <a:solidFill>
              <a:srgbClr val="1C2E55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686800" y="137160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93A1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STATUS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8686800" y="1801368"/>
            <a:ext cx="384048" cy="384048"/>
          </a:xfrm>
          <a:prstGeom prst="ellipse">
            <a:avLst/>
          </a:prstGeom>
          <a:solidFill>
            <a:srgbClr val="E89B00"/>
          </a:solidFill>
          <a:ln w="12700">
            <a:solidFill>
              <a:srgbClr val="E89B0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9235440" y="173736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risk</a:t>
            </a:r>
            <a:endParaRPr lang="en-US" sz="2400" dirty="0"/>
          </a:p>
        </p:txBody>
      </p:sp>
      <p:sp>
        <p:nvSpPr>
          <p:cNvPr id="11" name="Text 9"/>
          <p:cNvSpPr txBox="1"/>
          <p:nvPr/>
        </p:nvSpPr>
        <p:spPr>
          <a:xfrm>
            <a:off x="8686800" y="260604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E9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3600" dirty="0"/>
          </a:p>
        </p:txBody>
      </p:sp>
      <p:sp>
        <p:nvSpPr>
          <p:cNvPr id="12" name="Text 10"/>
          <p:cNvSpPr txBox="1"/>
          <p:nvPr/>
        </p:nvSpPr>
        <p:spPr>
          <a:xfrm>
            <a:off x="9646920" y="260604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9D3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track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8686800" y="342900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E89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3600" dirty="0"/>
          </a:p>
        </p:txBody>
      </p:sp>
      <p:sp>
        <p:nvSpPr>
          <p:cNvPr id="14" name="Text 12"/>
          <p:cNvSpPr txBox="1"/>
          <p:nvPr/>
        </p:nvSpPr>
        <p:spPr>
          <a:xfrm>
            <a:off x="9646920" y="342900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9D3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risk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8686800" y="425196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D64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3600" dirty="0"/>
          </a:p>
        </p:txBody>
      </p:sp>
      <p:sp>
        <p:nvSpPr>
          <p:cNvPr id="16" name="Text 14"/>
          <p:cNvSpPr txBox="1"/>
          <p:nvPr/>
        </p:nvSpPr>
        <p:spPr>
          <a:xfrm>
            <a:off x="9646920" y="425196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9D3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Blocked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8686800" y="507492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3A1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workstreams in flight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0A9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76656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of 21 workstreams on track; a CISO review and a Fabric capacity call clear 3 of 4 risks</a:t>
            </a:r>
            <a:endParaRPr lang="en-US" sz="2600" dirty="0"/>
          </a:p>
        </p:txBody>
      </p:sp>
      <p:sp>
        <p:nvSpPr>
          <p:cNvPr id="4" name="kpi-0"/>
          <p:cNvSpPr/>
          <p:nvPr/>
        </p:nvSpPr>
        <p:spPr>
          <a:xfrm>
            <a:off x="548640" y="1691640"/>
            <a:ext cx="2036003" cy="1188720"/>
          </a:xfrm>
          <a:prstGeom prst="roundRect">
            <a:avLst>
              <a:gd name="adj" fmla="val 7692"/>
            </a:avLst>
          </a:prstGeom>
          <a:solidFill>
            <a:srgbClr val="F3F5F9"/>
          </a:solidFill>
          <a:ln w="12700">
            <a:solidFill>
              <a:srgbClr val="F3F5F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801368"/>
            <a:ext cx="1578803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36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441448"/>
            <a:ext cx="1578803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F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Workstreams in flight</a:t>
            </a:r>
            <a:endParaRPr lang="en-US" sz="1200" dirty="0"/>
          </a:p>
        </p:txBody>
      </p:sp>
      <p:sp>
        <p:nvSpPr>
          <p:cNvPr id="7" name="kpi-1"/>
          <p:cNvSpPr/>
          <p:nvPr/>
        </p:nvSpPr>
        <p:spPr>
          <a:xfrm>
            <a:off x="2813243" y="1691640"/>
            <a:ext cx="2036003" cy="1188720"/>
          </a:xfrm>
          <a:prstGeom prst="roundRect">
            <a:avLst>
              <a:gd name="adj" fmla="val 7692"/>
            </a:avLst>
          </a:prstGeom>
          <a:solidFill>
            <a:srgbClr val="F3F5F9"/>
          </a:solidFill>
          <a:ln w="12700">
            <a:solidFill>
              <a:srgbClr val="F3F5F9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041843" y="1801368"/>
            <a:ext cx="1578803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E9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3600" dirty="0"/>
          </a:p>
        </p:txBody>
      </p:sp>
      <p:sp>
        <p:nvSpPr>
          <p:cNvPr id="9" name="Text 7"/>
          <p:cNvSpPr txBox="1"/>
          <p:nvPr/>
        </p:nvSpPr>
        <p:spPr>
          <a:xfrm>
            <a:off x="3041843" y="2441448"/>
            <a:ext cx="1578803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F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track</a:t>
            </a:r>
            <a:endParaRPr lang="en-US" sz="1200" dirty="0"/>
          </a:p>
        </p:txBody>
      </p:sp>
      <p:sp>
        <p:nvSpPr>
          <p:cNvPr id="10" name="kpi-2"/>
          <p:cNvSpPr/>
          <p:nvPr/>
        </p:nvSpPr>
        <p:spPr>
          <a:xfrm>
            <a:off x="5077846" y="1691640"/>
            <a:ext cx="2036003" cy="1188720"/>
          </a:xfrm>
          <a:prstGeom prst="roundRect">
            <a:avLst>
              <a:gd name="adj" fmla="val 7692"/>
            </a:avLst>
          </a:prstGeom>
          <a:solidFill>
            <a:srgbClr val="F3F5F9"/>
          </a:solidFill>
          <a:ln w="12700">
            <a:solidFill>
              <a:srgbClr val="F3F5F9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306446" y="1801368"/>
            <a:ext cx="1578803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E89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3600" dirty="0"/>
          </a:p>
        </p:txBody>
      </p:sp>
      <p:sp>
        <p:nvSpPr>
          <p:cNvPr id="12" name="Text 10"/>
          <p:cNvSpPr txBox="1"/>
          <p:nvPr/>
        </p:nvSpPr>
        <p:spPr>
          <a:xfrm>
            <a:off x="5306446" y="2441448"/>
            <a:ext cx="1578803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F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risk</a:t>
            </a:r>
            <a:endParaRPr lang="en-US" sz="1200" dirty="0"/>
          </a:p>
        </p:txBody>
      </p:sp>
      <p:sp>
        <p:nvSpPr>
          <p:cNvPr id="13" name="kpi-3"/>
          <p:cNvSpPr/>
          <p:nvPr/>
        </p:nvSpPr>
        <p:spPr>
          <a:xfrm>
            <a:off x="7342449" y="1691640"/>
            <a:ext cx="2036003" cy="1188720"/>
          </a:xfrm>
          <a:prstGeom prst="roundRect">
            <a:avLst>
              <a:gd name="adj" fmla="val 7692"/>
            </a:avLst>
          </a:prstGeom>
          <a:solidFill>
            <a:srgbClr val="F3F5F9"/>
          </a:solidFill>
          <a:ln w="12700">
            <a:solidFill>
              <a:srgbClr val="F3F5F9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571049" y="1801368"/>
            <a:ext cx="1578803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D64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3600" dirty="0"/>
          </a:p>
        </p:txBody>
      </p:sp>
      <p:sp>
        <p:nvSpPr>
          <p:cNvPr id="15" name="Text 13"/>
          <p:cNvSpPr txBox="1"/>
          <p:nvPr/>
        </p:nvSpPr>
        <p:spPr>
          <a:xfrm>
            <a:off x="7571049" y="2441448"/>
            <a:ext cx="1578803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F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Blocked</a:t>
            </a:r>
            <a:endParaRPr lang="en-US" sz="1200" dirty="0"/>
          </a:p>
        </p:txBody>
      </p:sp>
      <p:sp>
        <p:nvSpPr>
          <p:cNvPr id="16" name="kpi-4"/>
          <p:cNvSpPr/>
          <p:nvPr/>
        </p:nvSpPr>
        <p:spPr>
          <a:xfrm>
            <a:off x="9607052" y="1691640"/>
            <a:ext cx="2036003" cy="1188720"/>
          </a:xfrm>
          <a:prstGeom prst="roundRect">
            <a:avLst>
              <a:gd name="adj" fmla="val 7692"/>
            </a:avLst>
          </a:prstGeom>
          <a:solidFill>
            <a:srgbClr val="F3F5F9"/>
          </a:solidFill>
          <a:ln w="12700">
            <a:solidFill>
              <a:srgbClr val="F3F5F9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9835652" y="1801368"/>
            <a:ext cx="1578803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0A9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3600" dirty="0"/>
          </a:p>
        </p:txBody>
      </p:sp>
      <p:sp>
        <p:nvSpPr>
          <p:cNvPr id="18" name="Text 16"/>
          <p:cNvSpPr txBox="1"/>
          <p:nvPr/>
        </p:nvSpPr>
        <p:spPr>
          <a:xfrm>
            <a:off x="9835652" y="2441448"/>
            <a:ext cx="1578803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F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Due in next 14 days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3200400"/>
            <a:ext cx="5760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by platform</a:t>
            </a:r>
            <a:endParaRPr lang="en-US" sz="1600" dirty="0"/>
          </a:p>
        </p:txBody>
      </p:sp>
      <p:graphicFrame>
        <p:nvGraphicFramePr>
          <p:cNvPr id="20" name="platform-health-chart" descr=""/>
          <p:cNvGraphicFramePr/>
          <p:nvPr/>
        </p:nvGraphicFramePr>
        <p:xfrm>
          <a:off x="548640" y="3566160"/>
          <a:ext cx="5760720" cy="26517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1" name="Text 18"/>
          <p:cNvSpPr txBox="1"/>
          <p:nvPr/>
        </p:nvSpPr>
        <p:spPr>
          <a:xfrm>
            <a:off x="6675120" y="3200400"/>
            <a:ext cx="49679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leadership should know</a:t>
            </a:r>
            <a:endParaRPr lang="en-US" sz="1600" dirty="0"/>
          </a:p>
        </p:txBody>
      </p:sp>
      <p:sp>
        <p:nvSpPr>
          <p:cNvPr id="22" name="Shape 19"/>
          <p:cNvSpPr/>
          <p:nvPr/>
        </p:nvSpPr>
        <p:spPr>
          <a:xfrm>
            <a:off x="6675120" y="3749040"/>
            <a:ext cx="384048" cy="384048"/>
          </a:xfrm>
          <a:prstGeom prst="ellipse">
            <a:avLst/>
          </a:prstGeom>
          <a:solidFill>
            <a:srgbClr val="0F1E3D"/>
          </a:solidFill>
          <a:ln w="12700">
            <a:solidFill>
              <a:srgbClr val="0F1E3D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6675120" y="37490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24" name="Text 21"/>
          <p:cNvSpPr txBox="1"/>
          <p:nvPr/>
        </p:nvSpPr>
        <p:spPr>
          <a:xfrm>
            <a:off x="7223760" y="3703320"/>
            <a:ext cx="441929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and speed wins: serverless SQL cuts DBU spend 11% (~$6.2K/mo); Direct Lake reports load in 2.4s, down from 9.1s.</a:t>
            </a:r>
            <a:endParaRPr lang="en-US" sz="1400" dirty="0"/>
          </a:p>
        </p:txBody>
      </p:sp>
      <p:sp>
        <p:nvSpPr>
          <p:cNvPr id="25" name="Shape 22"/>
          <p:cNvSpPr/>
          <p:nvPr/>
        </p:nvSpPr>
        <p:spPr>
          <a:xfrm>
            <a:off x="6675120" y="4617720"/>
            <a:ext cx="384048" cy="384048"/>
          </a:xfrm>
          <a:prstGeom prst="ellipse">
            <a:avLst/>
          </a:prstGeom>
          <a:solidFill>
            <a:srgbClr val="0F1E3D"/>
          </a:solidFill>
          <a:ln w="12700">
            <a:solidFill>
              <a:srgbClr val="0F1E3D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6675120" y="46177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27" name="Text 24"/>
          <p:cNvSpPr txBox="1"/>
          <p:nvPr/>
        </p:nvSpPr>
        <p:spPr>
          <a:xfrm>
            <a:off x="7223760" y="4572000"/>
            <a:ext cx="441929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is reaching users: 32 of 45 ops managers on Spotter, and Copilot scores 88% on its 40-question test set.</a:t>
            </a:r>
            <a:endParaRPr lang="en-US" sz="1400" dirty="0"/>
          </a:p>
        </p:txBody>
      </p:sp>
      <p:sp>
        <p:nvSpPr>
          <p:cNvPr id="28" name="Shape 25"/>
          <p:cNvSpPr/>
          <p:nvPr/>
        </p:nvSpPr>
        <p:spPr>
          <a:xfrm>
            <a:off x="6675120" y="5486400"/>
            <a:ext cx="384048" cy="384048"/>
          </a:xfrm>
          <a:prstGeom prst="ellipse">
            <a:avLst/>
          </a:prstGeom>
          <a:solidFill>
            <a:srgbClr val="0F1E3D"/>
          </a:solidFill>
          <a:ln w="12700">
            <a:solidFill>
              <a:srgbClr val="0F1E3D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6675120" y="54864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30" name="Text 27"/>
          <p:cNvSpPr txBox="1"/>
          <p:nvPr/>
        </p:nvSpPr>
        <p:spPr>
          <a:xfrm>
            <a:off x="7223760" y="5440680"/>
            <a:ext cx="441929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 on Fabric F64 capacity by Oct 30, and have the CISO prioritize the stalled Claude Code pilot review.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F6B8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0A9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HIGHLIGHTS THIS WEEK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76656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reports, lower spend and safer releases are already landing</a:t>
            </a:r>
            <a:endParaRPr lang="en-US" sz="2600" dirty="0"/>
          </a:p>
        </p:txBody>
      </p:sp>
      <p:sp>
        <p:nvSpPr>
          <p:cNvPr id="4" name="highlight-DATA-23"/>
          <p:cNvSpPr/>
          <p:nvPr/>
        </p:nvSpPr>
        <p:spPr>
          <a:xfrm>
            <a:off x="548640" y="1691640"/>
            <a:ext cx="5410048" cy="2057400"/>
          </a:xfrm>
          <a:prstGeom prst="roundRect">
            <a:avLst>
              <a:gd name="adj" fmla="val 4444"/>
            </a:avLst>
          </a:prstGeom>
          <a:solidFill>
            <a:srgbClr val="F3F5F9"/>
          </a:solidFill>
          <a:ln w="12700">
            <a:solidFill>
              <a:srgbClr val="F3F5F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201168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0A9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2.4s</a:t>
            </a:r>
            <a:endParaRPr lang="en-US" sz="34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83464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F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report load, down from 9.1s</a:t>
            </a:r>
            <a:endParaRPr lang="en-US" sz="1100" dirty="0"/>
          </a:p>
        </p:txBody>
      </p:sp>
      <p:sp>
        <p:nvSpPr>
          <p:cNvPr id="7" name="pill-Power BI"/>
          <p:cNvSpPr/>
          <p:nvPr/>
        </p:nvSpPr>
        <p:spPr>
          <a:xfrm>
            <a:off x="3154680" y="1965960"/>
            <a:ext cx="1051560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154680" y="1965960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3154680" y="2350008"/>
            <a:ext cx="25296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 top 10 import models to Direct Lake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3154680" y="2926080"/>
            <a:ext cx="252968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of 10 top models on Direct Lake, including Executive Scorecard; nightly refresh windows for those models are gone.</a:t>
            </a:r>
            <a:endParaRPr lang="en-US" sz="1200" dirty="0"/>
          </a:p>
        </p:txBody>
      </p:sp>
      <p:sp>
        <p:nvSpPr>
          <p:cNvPr id="11" name="highlight-DATA-12"/>
          <p:cNvSpPr/>
          <p:nvPr/>
        </p:nvSpPr>
        <p:spPr>
          <a:xfrm>
            <a:off x="6233008" y="1691640"/>
            <a:ext cx="5410048" cy="2057400"/>
          </a:xfrm>
          <a:prstGeom prst="roundRect">
            <a:avLst>
              <a:gd name="adj" fmla="val 4444"/>
            </a:avLst>
          </a:prstGeom>
          <a:solidFill>
            <a:srgbClr val="F3F5F9"/>
          </a:solidFill>
          <a:ln w="12700">
            <a:solidFill>
              <a:srgbClr val="F3F5F9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507328" y="201168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0A9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−11%</a:t>
            </a:r>
            <a:endParaRPr lang="en-US" sz="3400" dirty="0"/>
          </a:p>
        </p:txBody>
      </p:sp>
      <p:sp>
        <p:nvSpPr>
          <p:cNvPr id="13" name="Text 11"/>
          <p:cNvSpPr txBox="1"/>
          <p:nvPr/>
        </p:nvSpPr>
        <p:spPr>
          <a:xfrm>
            <a:off x="6507328" y="283464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F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DBU spend, ~$6.2K/month saved</a:t>
            </a:r>
            <a:endParaRPr lang="en-US" sz="1100" dirty="0"/>
          </a:p>
        </p:txBody>
      </p:sp>
      <p:sp>
        <p:nvSpPr>
          <p:cNvPr id="14" name="pill-Databricks"/>
          <p:cNvSpPr/>
          <p:nvPr/>
        </p:nvSpPr>
        <p:spPr>
          <a:xfrm>
            <a:off x="8839048" y="1965960"/>
            <a:ext cx="1234440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839048" y="1965960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DATABRICKS</a:t>
            </a:r>
            <a:endParaRPr lang="en-US" sz="900" dirty="0"/>
          </a:p>
        </p:txBody>
      </p:sp>
      <p:sp>
        <p:nvSpPr>
          <p:cNvPr id="16" name="Text 14"/>
          <p:cNvSpPr txBox="1"/>
          <p:nvPr/>
        </p:nvSpPr>
        <p:spPr>
          <a:xfrm>
            <a:off x="8839048" y="2350008"/>
            <a:ext cx="25296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Serverless SQL migration + system-tables cost dashboard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8839048" y="2926080"/>
            <a:ext cx="252968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of 4 SQL warehouses on serverless with auto-stop; cost dashboard live for Finance. On track for the 15% target.</a:t>
            </a:r>
            <a:endParaRPr lang="en-US" sz="1200" dirty="0"/>
          </a:p>
        </p:txBody>
      </p:sp>
      <p:sp>
        <p:nvSpPr>
          <p:cNvPr id="18" name="highlight-DATA-13"/>
          <p:cNvSpPr/>
          <p:nvPr/>
        </p:nvSpPr>
        <p:spPr>
          <a:xfrm>
            <a:off x="548640" y="4023360"/>
            <a:ext cx="5410048" cy="2057400"/>
          </a:xfrm>
          <a:prstGeom prst="roundRect">
            <a:avLst>
              <a:gd name="adj" fmla="val 4444"/>
            </a:avLst>
          </a:prstGeom>
          <a:solidFill>
            <a:srgbClr val="F3F5F9"/>
          </a:solidFill>
          <a:ln w="12700">
            <a:solidFill>
              <a:srgbClr val="F3F5F9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22960" y="434340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0A9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12</a:t>
            </a:r>
            <a:endParaRPr lang="en-US" sz="3400" dirty="0"/>
          </a:p>
        </p:txBody>
      </p:sp>
      <p:sp>
        <p:nvSpPr>
          <p:cNvPr id="20" name="Text 18"/>
          <p:cNvSpPr txBox="1"/>
          <p:nvPr/>
        </p:nvSpPr>
        <p:spPr>
          <a:xfrm>
            <a:off x="822960" y="516636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F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Certified executive KPIs published</a:t>
            </a:r>
            <a:endParaRPr lang="en-US" sz="1100" dirty="0"/>
          </a:p>
        </p:txBody>
      </p:sp>
      <p:sp>
        <p:nvSpPr>
          <p:cNvPr id="21" name="pill-Databricks"/>
          <p:cNvSpPr/>
          <p:nvPr/>
        </p:nvSpPr>
        <p:spPr>
          <a:xfrm>
            <a:off x="3154680" y="4297680"/>
            <a:ext cx="1234440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3154680" y="4297680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DATABRICKS</a:t>
            </a:r>
            <a:endParaRPr lang="en-US" sz="900" dirty="0"/>
          </a:p>
        </p:txBody>
      </p:sp>
      <p:sp>
        <p:nvSpPr>
          <p:cNvPr id="23" name="Text 21"/>
          <p:cNvSpPr txBox="1"/>
          <p:nvPr/>
        </p:nvSpPr>
        <p:spPr>
          <a:xfrm>
            <a:off x="3154680" y="4681728"/>
            <a:ext cx="25296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Unity Catalog metric views for certified executive KPIs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3154680" y="5257800"/>
            <a:ext cx="252968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On-time delivery, cost per shipment and carrier scorecard reconcile to September close within ±0.2%.</a:t>
            </a:r>
            <a:endParaRPr lang="en-US" sz="1200" dirty="0"/>
          </a:p>
        </p:txBody>
      </p:sp>
      <p:sp>
        <p:nvSpPr>
          <p:cNvPr id="25" name="highlight-DATA-21"/>
          <p:cNvSpPr/>
          <p:nvPr/>
        </p:nvSpPr>
        <p:spPr>
          <a:xfrm>
            <a:off x="6233008" y="4023360"/>
            <a:ext cx="5410048" cy="2057400"/>
          </a:xfrm>
          <a:prstGeom prst="roundRect">
            <a:avLst>
              <a:gd name="adj" fmla="val 4444"/>
            </a:avLst>
          </a:prstGeom>
          <a:solidFill>
            <a:srgbClr val="F3F5F9"/>
          </a:solidFill>
          <a:ln w="12700">
            <a:solidFill>
              <a:srgbClr val="F3F5F9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507328" y="434340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0A9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min</a:t>
            </a:r>
            <a:endParaRPr lang="en-US" sz="3400" dirty="0"/>
          </a:p>
        </p:txBody>
      </p:sp>
      <p:sp>
        <p:nvSpPr>
          <p:cNvPr id="27" name="Text 25"/>
          <p:cNvSpPr txBox="1"/>
          <p:nvPr/>
        </p:nvSpPr>
        <p:spPr>
          <a:xfrm>
            <a:off x="6507328" y="516636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F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deployment, down from ~2 hours</a:t>
            </a:r>
            <a:endParaRPr lang="en-US" sz="1100" dirty="0"/>
          </a:p>
        </p:txBody>
      </p:sp>
      <p:sp>
        <p:nvSpPr>
          <p:cNvPr id="28" name="pill-Power BI"/>
          <p:cNvSpPr/>
          <p:nvPr/>
        </p:nvSpPr>
        <p:spPr>
          <a:xfrm>
            <a:off x="8839048" y="4297680"/>
            <a:ext cx="1051560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8839048" y="4297680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</a:t>
            </a:r>
            <a:endParaRPr lang="en-US" sz="900" dirty="0"/>
          </a:p>
        </p:txBody>
      </p:sp>
      <p:sp>
        <p:nvSpPr>
          <p:cNvPr id="30" name="Text 28"/>
          <p:cNvSpPr txBox="1"/>
          <p:nvPr/>
        </p:nvSpPr>
        <p:spPr>
          <a:xfrm>
            <a:off x="8839048" y="4681728"/>
            <a:ext cx="25296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PBIP/TMDL + Git CI/CD for semantic models</a:t>
            </a:r>
            <a:endParaRPr lang="en-US" sz="1500" dirty="0"/>
          </a:p>
        </p:txBody>
      </p:sp>
      <p:sp>
        <p:nvSpPr>
          <p:cNvPr id="31" name="Text 29"/>
          <p:cNvSpPr txBox="1"/>
          <p:nvPr/>
        </p:nvSpPr>
        <p:spPr>
          <a:xfrm>
            <a:off x="8839048" y="5257800"/>
            <a:ext cx="252968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of 25 semantic models deploy through Git CI/CD; automated checks have already blocked 3 non-compliant changes.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F6B8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0A9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RISKS &amp; DECISIONS NEEDED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76656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CISO review and one Fabric capacity call clear three of the four risks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002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5F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783080" y="16002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5F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WORKSTREAM &amp; ISSUE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6537960" y="16002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5F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/ ASK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10378440" y="16002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5F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NEEDED BY</a:t>
            </a:r>
            <a:endParaRPr lang="en-US" sz="1000" dirty="0"/>
          </a:p>
        </p:txBody>
      </p:sp>
      <p:sp>
        <p:nvSpPr>
          <p:cNvPr id="8" name="risk-DATA-29"/>
          <p:cNvSpPr/>
          <p:nvPr/>
        </p:nvSpPr>
        <p:spPr>
          <a:xfrm>
            <a:off x="548640" y="1947672"/>
            <a:ext cx="11094415" cy="960120"/>
          </a:xfrm>
          <a:prstGeom prst="roundRect">
            <a:avLst>
              <a:gd name="adj" fmla="val 7619"/>
            </a:avLst>
          </a:prstGeom>
          <a:solidFill>
            <a:srgbClr val="F3F5F9"/>
          </a:solidFill>
          <a:ln w="12700">
            <a:solidFill>
              <a:srgbClr val="F3F5F9"/>
            </a:solidFill>
            <a:prstDash val="solid"/>
          </a:ln>
        </p:spPr>
      </p:sp>
      <p:sp>
        <p:nvSpPr>
          <p:cNvPr id="9" name="pill-Blocked"/>
          <p:cNvSpPr/>
          <p:nvPr/>
        </p:nvSpPr>
        <p:spPr>
          <a:xfrm>
            <a:off x="685800" y="2130552"/>
            <a:ext cx="914400" cy="274320"/>
          </a:xfrm>
          <a:prstGeom prst="roundRect">
            <a:avLst>
              <a:gd name="adj" fmla="val 50000"/>
            </a:avLst>
          </a:prstGeom>
          <a:solidFill>
            <a:srgbClr val="D64545"/>
          </a:solidFill>
          <a:ln w="12700">
            <a:solidFill>
              <a:srgbClr val="D64545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85800" y="21305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BLOCKED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1783080" y="2057400"/>
            <a:ext cx="4480560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Code pilot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 ·  DATA-29  ·  InfoSec review submitted Oct 13 has no reviewer; the pilot cannot start without approval.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537960" y="2057400"/>
            <a:ext cx="3611880" cy="740664"/>
          </a:xfrm>
          <a:prstGeom prst="roundRect">
            <a:avLst>
              <a:gd name="adj" fmla="val 7407"/>
            </a:avLst>
          </a:prstGeom>
          <a:solidFill>
            <a:srgbClr val="FBE4E4"/>
          </a:solidFill>
          <a:ln w="12700">
            <a:solidFill>
              <a:srgbClr val="FBE4E4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675120" y="2057400"/>
            <a:ext cx="3337560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Have the CISO prioritize the review this week, or the pilot slips to next sprint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10378440" y="1947672"/>
            <a:ext cx="126461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64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Oct 23</a:t>
            </a:r>
            <a:endParaRPr lang="en-US" sz="1800" dirty="0"/>
          </a:p>
        </p:txBody>
      </p:sp>
      <p:sp>
        <p:nvSpPr>
          <p:cNvPr id="15" name="risk-DATA-26"/>
          <p:cNvSpPr/>
          <p:nvPr/>
        </p:nvSpPr>
        <p:spPr>
          <a:xfrm>
            <a:off x="548640" y="3017520"/>
            <a:ext cx="11094415" cy="960120"/>
          </a:xfrm>
          <a:prstGeom prst="roundRect">
            <a:avLst>
              <a:gd name="adj" fmla="val 7619"/>
            </a:avLst>
          </a:prstGeom>
          <a:solidFill>
            <a:srgbClr val="F3F5F9"/>
          </a:solidFill>
          <a:ln w="12700">
            <a:solidFill>
              <a:srgbClr val="F3F5F9"/>
            </a:solidFill>
            <a:prstDash val="solid"/>
          </a:ln>
        </p:spPr>
      </p:sp>
      <p:sp>
        <p:nvSpPr>
          <p:cNvPr id="16" name="pill-At risk"/>
          <p:cNvSpPr/>
          <p:nvPr/>
        </p:nvSpPr>
        <p:spPr>
          <a:xfrm>
            <a:off x="685800" y="3200400"/>
            <a:ext cx="914400" cy="274320"/>
          </a:xfrm>
          <a:prstGeom prst="roundRect">
            <a:avLst>
              <a:gd name="adj" fmla="val 50000"/>
            </a:avLst>
          </a:prstGeom>
          <a:solidFill>
            <a:srgbClr val="E89B00"/>
          </a:solidFill>
          <a:ln w="12700">
            <a:solidFill>
              <a:srgbClr val="E89B00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85800" y="32004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RISK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1783080" y="3127248"/>
            <a:ext cx="4480560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SSO + SCIM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 ·  DATA-26  ·  120 users live; the ~600-user General group is delayed because nested Entra groups don't sync.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537960" y="3127248"/>
            <a:ext cx="3611880" cy="740664"/>
          </a:xfrm>
          <a:prstGeom prst="roundRect">
            <a:avLst>
              <a:gd name="adj" fmla="val 7407"/>
            </a:avLst>
          </a:prstGeom>
          <a:solidFill>
            <a:srgbClr val="FDF1D8"/>
          </a:solidFill>
          <a:ln w="12700">
            <a:solidFill>
              <a:srgbClr val="FDF1D8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675120" y="3127248"/>
            <a:ext cx="3337560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the flattened-group workaround so General users can be onboarded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10378440" y="3017520"/>
            <a:ext cx="126461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89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Oct 23</a:t>
            </a:r>
            <a:endParaRPr lang="en-US" sz="1800" dirty="0"/>
          </a:p>
        </p:txBody>
      </p:sp>
      <p:sp>
        <p:nvSpPr>
          <p:cNvPr id="22" name="risk-DATA-18"/>
          <p:cNvSpPr/>
          <p:nvPr/>
        </p:nvSpPr>
        <p:spPr>
          <a:xfrm>
            <a:off x="548640" y="4087368"/>
            <a:ext cx="11094415" cy="960120"/>
          </a:xfrm>
          <a:prstGeom prst="roundRect">
            <a:avLst>
              <a:gd name="adj" fmla="val 7619"/>
            </a:avLst>
          </a:prstGeom>
          <a:solidFill>
            <a:srgbClr val="F3F5F9"/>
          </a:solidFill>
          <a:ln w="12700">
            <a:solidFill>
              <a:srgbClr val="F3F5F9"/>
            </a:solidFill>
            <a:prstDash val="solid"/>
          </a:ln>
        </p:spPr>
      </p:sp>
      <p:sp>
        <p:nvSpPr>
          <p:cNvPr id="23" name="pill-At risk"/>
          <p:cNvSpPr/>
          <p:nvPr/>
        </p:nvSpPr>
        <p:spPr>
          <a:xfrm>
            <a:off x="685800" y="4270248"/>
            <a:ext cx="914400" cy="274320"/>
          </a:xfrm>
          <a:prstGeom prst="roundRect">
            <a:avLst>
              <a:gd name="adj" fmla="val 50000"/>
            </a:avLst>
          </a:prstGeom>
          <a:solidFill>
            <a:srgbClr val="E89B00"/>
          </a:solidFill>
          <a:ln w="12700">
            <a:solidFill>
              <a:srgbClr val="E89B00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85800" y="427024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RISK</a:t>
            </a:r>
            <a:endParaRPr lang="en-US" sz="1000" dirty="0"/>
          </a:p>
        </p:txBody>
      </p:sp>
      <p:sp>
        <p:nvSpPr>
          <p:cNvPr id="25" name="Text 23"/>
          <p:cNvSpPr txBox="1"/>
          <p:nvPr/>
        </p:nvSpPr>
        <p:spPr>
          <a:xfrm>
            <a:off x="1783080" y="4197096"/>
            <a:ext cx="4480560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 Q&amp;A data agent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Fabric  ·  DATA-18  ·  Agent is 84% accurate, but F64 hit 97% at month-end close and responses slowed to 20s+.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6537960" y="4197096"/>
            <a:ext cx="3611880" cy="740664"/>
          </a:xfrm>
          <a:prstGeom prst="roundRect">
            <a:avLst>
              <a:gd name="adj" fmla="val 7407"/>
            </a:avLst>
          </a:prstGeom>
          <a:solidFill>
            <a:srgbClr val="FDF1D8"/>
          </a:solidFill>
          <a:ln w="12700">
            <a:solidFill>
              <a:srgbClr val="FDF1D8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675120" y="4197096"/>
            <a:ext cx="3337560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 F128 (+$8.4K/mo) or off-peak refresh scheduling at no added cost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10378440" y="4087368"/>
            <a:ext cx="126461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89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Oct 30</a:t>
            </a:r>
            <a:endParaRPr lang="en-US" sz="1800" dirty="0"/>
          </a:p>
        </p:txBody>
      </p:sp>
      <p:sp>
        <p:nvSpPr>
          <p:cNvPr id="29" name="risk-DATA-38"/>
          <p:cNvSpPr/>
          <p:nvPr/>
        </p:nvSpPr>
        <p:spPr>
          <a:xfrm>
            <a:off x="548640" y="5157216"/>
            <a:ext cx="11094415" cy="960120"/>
          </a:xfrm>
          <a:prstGeom prst="roundRect">
            <a:avLst>
              <a:gd name="adj" fmla="val 7619"/>
            </a:avLst>
          </a:prstGeom>
          <a:solidFill>
            <a:srgbClr val="F3F5F9"/>
          </a:solidFill>
          <a:ln w="12700">
            <a:solidFill>
              <a:srgbClr val="F3F5F9"/>
            </a:solidFill>
            <a:prstDash val="solid"/>
          </a:ln>
        </p:spPr>
      </p:sp>
      <p:sp>
        <p:nvSpPr>
          <p:cNvPr id="30" name="pill-At risk"/>
          <p:cNvSpPr/>
          <p:nvPr/>
        </p:nvSpPr>
        <p:spPr>
          <a:xfrm>
            <a:off x="685800" y="5340096"/>
            <a:ext cx="914400" cy="274320"/>
          </a:xfrm>
          <a:prstGeom prst="roundRect">
            <a:avLst>
              <a:gd name="adj" fmla="val 50000"/>
            </a:avLst>
          </a:prstGeom>
          <a:solidFill>
            <a:srgbClr val="E89B00"/>
          </a:solidFill>
          <a:ln w="12700">
            <a:solidFill>
              <a:srgbClr val="E89B00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685800" y="534009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RISK</a:t>
            </a:r>
            <a:endParaRPr lang="en-US" sz="1000" dirty="0"/>
          </a:p>
        </p:txBody>
      </p:sp>
      <p:sp>
        <p:nvSpPr>
          <p:cNvPr id="32" name="Text 30"/>
          <p:cNvSpPr txBox="1"/>
          <p:nvPr/>
        </p:nvSpPr>
        <p:spPr>
          <a:xfrm>
            <a:off x="1783080" y="5266944"/>
            <a:ext cx="4480560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P-SKU to F-SKU migration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 ·  DATA-38  ·  31 of 38 workspaces moved; 7 Finance workspaces wait on capacity. P1 renews Nov 15.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6537960" y="5266944"/>
            <a:ext cx="3611880" cy="740664"/>
          </a:xfrm>
          <a:prstGeom prst="roundRect">
            <a:avLst>
              <a:gd name="adj" fmla="val 7407"/>
            </a:avLst>
          </a:prstGeom>
          <a:solidFill>
            <a:srgbClr val="FDF1D8"/>
          </a:solidFill>
          <a:ln w="12700">
            <a:solidFill>
              <a:srgbClr val="FDF1D8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6675120" y="5266944"/>
            <a:ext cx="3337560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the Oct 27–29 cutover window to avoid ~$4K/mo P1 renewal; $48K/yr savings</a:t>
            </a:r>
            <a:endParaRPr lang="en-US" sz="1200" dirty="0"/>
          </a:p>
        </p:txBody>
      </p:sp>
      <p:sp>
        <p:nvSpPr>
          <p:cNvPr id="35" name="Text 33"/>
          <p:cNvSpPr txBox="1"/>
          <p:nvPr/>
        </p:nvSpPr>
        <p:spPr>
          <a:xfrm>
            <a:off x="10378440" y="5157216"/>
            <a:ext cx="126461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89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 13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F6B8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0A9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SCORECARD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76656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platform is moving; the Claude rollout carries the most risk</a:t>
            </a:r>
            <a:endParaRPr lang="en-US" sz="2600" dirty="0"/>
          </a:p>
        </p:txBody>
      </p:sp>
      <p:sp>
        <p:nvSpPr>
          <p:cNvPr id="4" name="score-Databricks"/>
          <p:cNvSpPr/>
          <p:nvPr/>
        </p:nvSpPr>
        <p:spPr>
          <a:xfrm>
            <a:off x="548640" y="1737360"/>
            <a:ext cx="2072579" cy="4434840"/>
          </a:xfrm>
          <a:prstGeom prst="roundRect">
            <a:avLst>
              <a:gd name="adj" fmla="val 4412"/>
            </a:avLst>
          </a:prstGeom>
          <a:solidFill>
            <a:srgbClr val="F3F5F9"/>
          </a:solidFill>
          <a:ln w="12700">
            <a:solidFill>
              <a:srgbClr val="F3F5F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1901952"/>
            <a:ext cx="170681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Databricks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267712"/>
            <a:ext cx="170681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F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items  </a:t>
            </a:r>
            <a:pPr indent="0" marL="0">
              <a:buNone/>
            </a:pPr>
            <a:r>
              <a:rPr lang="en-US" sz="1100" dirty="0">
                <a:solidFill>
                  <a:srgbClr val="2E9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●5 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731520" y="2752344"/>
            <a:ext cx="146304" cy="146304"/>
          </a:xfrm>
          <a:prstGeom prst="ellipse">
            <a:avLst/>
          </a:prstGeom>
          <a:solidFill>
            <a:srgbClr val="2E9E6B"/>
          </a:solidFill>
          <a:ln w="12700">
            <a:solidFill>
              <a:srgbClr val="2E9E6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69264" y="2697480"/>
            <a:ext cx="1505651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Lakeflow pipeline migration</a:t>
            </a:r>
            <a:endParaRPr lang="en-US" sz="1200" dirty="0"/>
          </a:p>
          <a:p>
            <a:pPr indent="0" marL="0">
              <a:buNone/>
            </a:pPr>
            <a:r>
              <a:rPr lang="en-US" sz="1000" dirty="0">
                <a:solidFill>
                  <a:srgbClr val="5F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Due Nov 6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31520" y="3410712"/>
            <a:ext cx="146304" cy="146304"/>
          </a:xfrm>
          <a:prstGeom prst="ellipse">
            <a:avLst/>
          </a:prstGeom>
          <a:solidFill>
            <a:srgbClr val="2E9E6B"/>
          </a:solidFill>
          <a:ln w="12700">
            <a:solidFill>
              <a:srgbClr val="2E9E6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969264" y="3355848"/>
            <a:ext cx="1505651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Serverless SQL + cost view</a:t>
            </a:r>
            <a:endParaRPr lang="en-US" sz="1200" dirty="0"/>
          </a:p>
          <a:p>
            <a:pPr indent="0" marL="0">
              <a:buNone/>
            </a:pPr>
            <a:r>
              <a:rPr lang="en-US" sz="1000" dirty="0">
                <a:solidFill>
                  <a:srgbClr val="5F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Due Nov 6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31520" y="4069080"/>
            <a:ext cx="146304" cy="146304"/>
          </a:xfrm>
          <a:prstGeom prst="ellipse">
            <a:avLst/>
          </a:prstGeom>
          <a:solidFill>
            <a:srgbClr val="2E9E6B"/>
          </a:solidFill>
          <a:ln w="12700">
            <a:solidFill>
              <a:srgbClr val="2E9E6B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69264" y="4014216"/>
            <a:ext cx="1505651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Certified KPI metric views</a:t>
            </a:r>
            <a:endParaRPr lang="en-US" sz="1200" dirty="0"/>
          </a:p>
          <a:p>
            <a:pPr indent="0" marL="0">
              <a:buNone/>
            </a:pPr>
            <a:r>
              <a:rPr lang="en-US" sz="1000" dirty="0">
                <a:solidFill>
                  <a:srgbClr val="5F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Due Nov 13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31520" y="4727448"/>
            <a:ext cx="146304" cy="146304"/>
          </a:xfrm>
          <a:prstGeom prst="ellipse">
            <a:avLst/>
          </a:prstGeom>
          <a:solidFill>
            <a:srgbClr val="2E9E6B"/>
          </a:solidFill>
          <a:ln w="12700">
            <a:solidFill>
              <a:srgbClr val="2E9E6B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969264" y="4672584"/>
            <a:ext cx="1505651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Governed Claude data access</a:t>
            </a:r>
            <a:endParaRPr lang="en-US" sz="1200" dirty="0"/>
          </a:p>
          <a:p>
            <a:pPr indent="0" marL="0">
              <a:buNone/>
            </a:pPr>
            <a:r>
              <a:rPr lang="en-US" sz="1000" dirty="0">
                <a:solidFill>
                  <a:srgbClr val="5F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Due Nov 13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31520" y="5385816"/>
            <a:ext cx="146304" cy="146304"/>
          </a:xfrm>
          <a:prstGeom prst="ellipse">
            <a:avLst/>
          </a:prstGeom>
          <a:solidFill>
            <a:srgbClr val="2E9E6B"/>
          </a:solidFill>
          <a:ln w="12700">
            <a:solidFill>
              <a:srgbClr val="2E9E6B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969264" y="5330952"/>
            <a:ext cx="1505651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Unity Catalog migration</a:t>
            </a:r>
            <a:endParaRPr lang="en-US" sz="1200" dirty="0"/>
          </a:p>
          <a:p>
            <a:pPr indent="0" marL="0">
              <a:buNone/>
            </a:pPr>
            <a:r>
              <a:rPr lang="en-US" sz="1000" dirty="0">
                <a:solidFill>
                  <a:srgbClr val="5F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Due Nov 6</a:t>
            </a:r>
            <a:endParaRPr lang="en-US" sz="1200" dirty="0"/>
          </a:p>
        </p:txBody>
      </p:sp>
      <p:sp>
        <p:nvSpPr>
          <p:cNvPr id="17" name="score-Microsoft Fabric"/>
          <p:cNvSpPr/>
          <p:nvPr/>
        </p:nvSpPr>
        <p:spPr>
          <a:xfrm>
            <a:off x="2804099" y="1737360"/>
            <a:ext cx="2072579" cy="4434840"/>
          </a:xfrm>
          <a:prstGeom prst="roundRect">
            <a:avLst>
              <a:gd name="adj" fmla="val 4412"/>
            </a:avLst>
          </a:prstGeom>
          <a:solidFill>
            <a:srgbClr val="F3F5F9"/>
          </a:solidFill>
          <a:ln w="12700">
            <a:solidFill>
              <a:srgbClr val="F3F5F9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2986979" y="1901952"/>
            <a:ext cx="170681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Fabric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2986979" y="2267712"/>
            <a:ext cx="170681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F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items  </a:t>
            </a:r>
            <a:pPr indent="0" marL="0">
              <a:buNone/>
            </a:pPr>
            <a:r>
              <a:rPr lang="en-US" sz="1100" dirty="0">
                <a:solidFill>
                  <a:srgbClr val="2E9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●2 </a:t>
            </a:r>
            <a:pPr indent="0" marL="0">
              <a:buNone/>
            </a:pPr>
            <a:r>
              <a:rPr lang="en-US" sz="1100" dirty="0">
                <a:solidFill>
                  <a:srgbClr val="E89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●1 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986979" y="2752344"/>
            <a:ext cx="146304" cy="146304"/>
          </a:xfrm>
          <a:prstGeom prst="ellipse">
            <a:avLst/>
          </a:prstGeom>
          <a:solidFill>
            <a:srgbClr val="E89B00"/>
          </a:solidFill>
          <a:ln w="12700">
            <a:solidFill>
              <a:srgbClr val="E89B00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3224723" y="2697480"/>
            <a:ext cx="1505651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 Q&amp;A data agent</a:t>
            </a:r>
            <a:endParaRPr lang="en-US" sz="1200" dirty="0"/>
          </a:p>
          <a:p>
            <a:pPr indent="0" marL="0">
              <a:buNone/>
            </a:pPr>
            <a:r>
              <a:rPr lang="en-US" sz="1000" dirty="0">
                <a:solidFill>
                  <a:srgbClr val="5F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Due Nov 20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2986979" y="3410712"/>
            <a:ext cx="146304" cy="146304"/>
          </a:xfrm>
          <a:prstGeom prst="ellipse">
            <a:avLst/>
          </a:prstGeom>
          <a:solidFill>
            <a:srgbClr val="2E9E6B"/>
          </a:solidFill>
          <a:ln w="12700">
            <a:solidFill>
              <a:srgbClr val="2E9E6B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3224723" y="3355848"/>
            <a:ext cx="1505651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OneLake zero-copy mirror</a:t>
            </a:r>
            <a:endParaRPr lang="en-US" sz="1200" dirty="0"/>
          </a:p>
          <a:p>
            <a:pPr indent="0" marL="0">
              <a:buNone/>
            </a:pPr>
            <a:r>
              <a:rPr lang="en-US" sz="1000" dirty="0">
                <a:solidFill>
                  <a:srgbClr val="5F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Due Nov 6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2986979" y="4069080"/>
            <a:ext cx="146304" cy="146304"/>
          </a:xfrm>
          <a:prstGeom prst="ellipse">
            <a:avLst/>
          </a:prstGeom>
          <a:solidFill>
            <a:srgbClr val="2E9E6B"/>
          </a:solidFill>
          <a:ln w="12700">
            <a:solidFill>
              <a:srgbClr val="2E9E6B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3224723" y="4014216"/>
            <a:ext cx="1505651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Fabric workspace governance</a:t>
            </a:r>
            <a:endParaRPr lang="en-US" sz="1200" dirty="0"/>
          </a:p>
          <a:p>
            <a:pPr indent="0" marL="0">
              <a:buNone/>
            </a:pPr>
            <a:r>
              <a:rPr lang="en-US" sz="1000" dirty="0">
                <a:solidFill>
                  <a:srgbClr val="5F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Due Nov 4</a:t>
            </a:r>
            <a:endParaRPr lang="en-US" sz="1200" dirty="0"/>
          </a:p>
        </p:txBody>
      </p:sp>
      <p:sp>
        <p:nvSpPr>
          <p:cNvPr id="26" name="score-Power BI"/>
          <p:cNvSpPr/>
          <p:nvPr/>
        </p:nvSpPr>
        <p:spPr>
          <a:xfrm>
            <a:off x="5059558" y="1737360"/>
            <a:ext cx="2072579" cy="4434840"/>
          </a:xfrm>
          <a:prstGeom prst="roundRect">
            <a:avLst>
              <a:gd name="adj" fmla="val 4412"/>
            </a:avLst>
          </a:prstGeom>
          <a:solidFill>
            <a:srgbClr val="F3F5F9"/>
          </a:solidFill>
          <a:ln w="12700">
            <a:solidFill>
              <a:srgbClr val="F3F5F9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5242438" y="1901952"/>
            <a:ext cx="170681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</a:t>
            </a:r>
            <a:endParaRPr lang="en-US" sz="1500" dirty="0"/>
          </a:p>
        </p:txBody>
      </p:sp>
      <p:sp>
        <p:nvSpPr>
          <p:cNvPr id="28" name="Text 26"/>
          <p:cNvSpPr txBox="1"/>
          <p:nvPr/>
        </p:nvSpPr>
        <p:spPr>
          <a:xfrm>
            <a:off x="5242438" y="2267712"/>
            <a:ext cx="170681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F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items  </a:t>
            </a:r>
            <a:pPr indent="0" marL="0">
              <a:buNone/>
            </a:pPr>
            <a:r>
              <a:rPr lang="en-US" sz="1100" dirty="0">
                <a:solidFill>
                  <a:srgbClr val="2E9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●3 </a:t>
            </a:r>
            <a:pPr indent="0" marL="0">
              <a:buNone/>
            </a:pPr>
            <a:r>
              <a:rPr lang="en-US" sz="1100" dirty="0">
                <a:solidFill>
                  <a:srgbClr val="E89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●1 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5242438" y="2752344"/>
            <a:ext cx="146304" cy="146304"/>
          </a:xfrm>
          <a:prstGeom prst="ellipse">
            <a:avLst/>
          </a:prstGeom>
          <a:solidFill>
            <a:srgbClr val="E89B00"/>
          </a:solidFill>
          <a:ln w="12700">
            <a:solidFill>
              <a:srgbClr val="E89B00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5480182" y="2697480"/>
            <a:ext cx="1505651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P-SKU to F-SKU migration</a:t>
            </a:r>
            <a:endParaRPr lang="en-US" sz="1200" dirty="0"/>
          </a:p>
          <a:p>
            <a:pPr indent="0" marL="0">
              <a:buNone/>
            </a:pPr>
            <a:r>
              <a:rPr lang="en-US" sz="1000" dirty="0">
                <a:solidFill>
                  <a:srgbClr val="5F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Due Nov 13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5242438" y="3410712"/>
            <a:ext cx="146304" cy="146304"/>
          </a:xfrm>
          <a:prstGeom prst="ellipse">
            <a:avLst/>
          </a:prstGeom>
          <a:solidFill>
            <a:srgbClr val="2E9E6B"/>
          </a:solidFill>
          <a:ln w="12700">
            <a:solidFill>
              <a:srgbClr val="2E9E6B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5480182" y="3355848"/>
            <a:ext cx="1505651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model CI/CD</a:t>
            </a:r>
            <a:endParaRPr lang="en-US" sz="1200" dirty="0"/>
          </a:p>
          <a:p>
            <a:pPr indent="0" marL="0">
              <a:buNone/>
            </a:pPr>
            <a:r>
              <a:rPr lang="en-US" sz="1000" dirty="0">
                <a:solidFill>
                  <a:srgbClr val="5F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Due Nov 6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5242438" y="4069080"/>
            <a:ext cx="146304" cy="146304"/>
          </a:xfrm>
          <a:prstGeom prst="ellipse">
            <a:avLst/>
          </a:prstGeom>
          <a:solidFill>
            <a:srgbClr val="2E9E6B"/>
          </a:solidFill>
          <a:ln w="12700">
            <a:solidFill>
              <a:srgbClr val="2E9E6B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5480182" y="4014216"/>
            <a:ext cx="1505651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 readiness</a:t>
            </a:r>
            <a:endParaRPr lang="en-US" sz="1200" dirty="0"/>
          </a:p>
          <a:p>
            <a:pPr indent="0" marL="0">
              <a:buNone/>
            </a:pPr>
            <a:r>
              <a:rPr lang="en-US" sz="1000" dirty="0">
                <a:solidFill>
                  <a:srgbClr val="5F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Due Nov 4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5242438" y="4727448"/>
            <a:ext cx="146304" cy="146304"/>
          </a:xfrm>
          <a:prstGeom prst="ellipse">
            <a:avLst/>
          </a:prstGeom>
          <a:solidFill>
            <a:srgbClr val="2E9E6B"/>
          </a:solidFill>
          <a:ln w="12700">
            <a:solidFill>
              <a:srgbClr val="2E9E6B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5480182" y="4672584"/>
            <a:ext cx="1505651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Lake conversion</a:t>
            </a:r>
            <a:endParaRPr lang="en-US" sz="1200" dirty="0"/>
          </a:p>
          <a:p>
            <a:pPr indent="0" marL="0">
              <a:buNone/>
            </a:pPr>
            <a:r>
              <a:rPr lang="en-US" sz="1000" dirty="0">
                <a:solidFill>
                  <a:srgbClr val="5F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Due Nov 13</a:t>
            </a:r>
            <a:endParaRPr lang="en-US" sz="1200" dirty="0"/>
          </a:p>
        </p:txBody>
      </p:sp>
      <p:sp>
        <p:nvSpPr>
          <p:cNvPr id="37" name="score-Claude"/>
          <p:cNvSpPr/>
          <p:nvPr/>
        </p:nvSpPr>
        <p:spPr>
          <a:xfrm>
            <a:off x="7315017" y="1737360"/>
            <a:ext cx="2072579" cy="4434840"/>
          </a:xfrm>
          <a:prstGeom prst="roundRect">
            <a:avLst>
              <a:gd name="adj" fmla="val 4412"/>
            </a:avLst>
          </a:prstGeom>
          <a:solidFill>
            <a:srgbClr val="F3F5F9"/>
          </a:solidFill>
          <a:ln w="12700">
            <a:solidFill>
              <a:srgbClr val="F3F5F9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7497897" y="1901952"/>
            <a:ext cx="170681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</a:t>
            </a:r>
            <a:endParaRPr lang="en-US" sz="1500" dirty="0"/>
          </a:p>
        </p:txBody>
      </p:sp>
      <p:sp>
        <p:nvSpPr>
          <p:cNvPr id="39" name="Text 37"/>
          <p:cNvSpPr txBox="1"/>
          <p:nvPr/>
        </p:nvSpPr>
        <p:spPr>
          <a:xfrm>
            <a:off x="7497897" y="2267712"/>
            <a:ext cx="170681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F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items  </a:t>
            </a:r>
            <a:pPr indent="0" marL="0">
              <a:buNone/>
            </a:pPr>
            <a:r>
              <a:rPr lang="en-US" sz="1100" dirty="0">
                <a:solidFill>
                  <a:srgbClr val="2E9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●3 </a:t>
            </a:r>
            <a:pPr indent="0" marL="0">
              <a:buNone/>
            </a:pPr>
            <a:r>
              <a:rPr lang="en-US" sz="1100" dirty="0">
                <a:solidFill>
                  <a:srgbClr val="E89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●1 </a:t>
            </a:r>
            <a:pPr indent="0" marL="0">
              <a:buNone/>
            </a:pPr>
            <a:r>
              <a:rPr lang="en-US" sz="1100" dirty="0">
                <a:solidFill>
                  <a:srgbClr val="D64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●1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7497897" y="2752344"/>
            <a:ext cx="146304" cy="146304"/>
          </a:xfrm>
          <a:prstGeom prst="ellipse">
            <a:avLst/>
          </a:prstGeom>
          <a:solidFill>
            <a:srgbClr val="D64545"/>
          </a:solidFill>
          <a:ln w="12700">
            <a:solidFill>
              <a:srgbClr val="D64545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7735641" y="2697480"/>
            <a:ext cx="1505651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Code pilot</a:t>
            </a:r>
            <a:endParaRPr lang="en-US" sz="1200" dirty="0"/>
          </a:p>
          <a:p>
            <a:pPr indent="0" marL="0">
              <a:buNone/>
            </a:pPr>
            <a:r>
              <a:rPr lang="en-US" sz="1000" dirty="0">
                <a:solidFill>
                  <a:srgbClr val="5F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Due Nov 20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7497897" y="3410712"/>
            <a:ext cx="146304" cy="146304"/>
          </a:xfrm>
          <a:prstGeom prst="ellipse">
            <a:avLst/>
          </a:prstGeom>
          <a:solidFill>
            <a:srgbClr val="E89B00"/>
          </a:solidFill>
          <a:ln w="12700">
            <a:solidFill>
              <a:srgbClr val="E89B00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7735641" y="3355848"/>
            <a:ext cx="1505651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SSO + SCIM</a:t>
            </a:r>
            <a:endParaRPr lang="en-US" sz="1200" dirty="0"/>
          </a:p>
          <a:p>
            <a:pPr indent="0" marL="0">
              <a:buNone/>
            </a:pPr>
            <a:r>
              <a:rPr lang="en-US" sz="1000" dirty="0">
                <a:solidFill>
                  <a:srgbClr val="5F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Due Nov 13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7497897" y="4069080"/>
            <a:ext cx="146304" cy="146304"/>
          </a:xfrm>
          <a:prstGeom prst="ellipse">
            <a:avLst/>
          </a:prstGeom>
          <a:solidFill>
            <a:srgbClr val="2E9E6B"/>
          </a:solidFill>
          <a:ln w="12700">
            <a:solidFill>
              <a:srgbClr val="2E9E6B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7735641" y="4014216"/>
            <a:ext cx="1505651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Connector governance policy</a:t>
            </a:r>
            <a:endParaRPr lang="en-US" sz="1200" dirty="0"/>
          </a:p>
          <a:p>
            <a:pPr indent="0" marL="0">
              <a:buNone/>
            </a:pPr>
            <a:r>
              <a:rPr lang="en-US" sz="1000" dirty="0">
                <a:solidFill>
                  <a:srgbClr val="5F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Due Nov 4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7497897" y="4727448"/>
            <a:ext cx="146304" cy="146304"/>
          </a:xfrm>
          <a:prstGeom prst="ellipse">
            <a:avLst/>
          </a:prstGeom>
          <a:solidFill>
            <a:srgbClr val="2E9E6B"/>
          </a:solidFill>
          <a:ln w="12700">
            <a:solidFill>
              <a:srgbClr val="2E9E6B"/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7735641" y="4672584"/>
            <a:ext cx="1505651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Deck skill</a:t>
            </a:r>
            <a:endParaRPr lang="en-US" sz="1200" dirty="0"/>
          </a:p>
          <a:p>
            <a:pPr indent="0" marL="0">
              <a:buNone/>
            </a:pPr>
            <a:r>
              <a:rPr lang="en-US" sz="1000" dirty="0">
                <a:solidFill>
                  <a:srgbClr val="5F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Due Nov 6</a:t>
            </a:r>
            <a:endParaRPr lang="en-US" sz="1200" dirty="0"/>
          </a:p>
        </p:txBody>
      </p:sp>
      <p:sp>
        <p:nvSpPr>
          <p:cNvPr id="48" name="Shape 46"/>
          <p:cNvSpPr/>
          <p:nvPr/>
        </p:nvSpPr>
        <p:spPr>
          <a:xfrm>
            <a:off x="7497897" y="5385816"/>
            <a:ext cx="146304" cy="146304"/>
          </a:xfrm>
          <a:prstGeom prst="ellipse">
            <a:avLst/>
          </a:prstGeom>
          <a:solidFill>
            <a:srgbClr val="2E9E6B"/>
          </a:solidFill>
          <a:ln w="12700">
            <a:solidFill>
              <a:srgbClr val="2E9E6B"/>
            </a:solidFill>
            <a:prstDash val="solid"/>
          </a:ln>
        </p:spPr>
      </p:sp>
      <p:sp>
        <p:nvSpPr>
          <p:cNvPr id="49" name="Text 47"/>
          <p:cNvSpPr txBox="1"/>
          <p:nvPr/>
        </p:nvSpPr>
        <p:spPr>
          <a:xfrm>
            <a:off x="7735641" y="5330952"/>
            <a:ext cx="1505651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policy + training</a:t>
            </a:r>
            <a:endParaRPr lang="en-US" sz="1200" dirty="0"/>
          </a:p>
          <a:p>
            <a:pPr indent="0" marL="0">
              <a:buNone/>
            </a:pPr>
            <a:r>
              <a:rPr lang="en-US" sz="1000" dirty="0">
                <a:solidFill>
                  <a:srgbClr val="5F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Due Nov 4</a:t>
            </a:r>
            <a:endParaRPr lang="en-US" sz="1200" dirty="0"/>
          </a:p>
        </p:txBody>
      </p:sp>
      <p:sp>
        <p:nvSpPr>
          <p:cNvPr id="50" name="score-ThoughtSpot"/>
          <p:cNvSpPr/>
          <p:nvPr/>
        </p:nvSpPr>
        <p:spPr>
          <a:xfrm>
            <a:off x="9570476" y="1737360"/>
            <a:ext cx="2072579" cy="4434840"/>
          </a:xfrm>
          <a:prstGeom prst="roundRect">
            <a:avLst>
              <a:gd name="adj" fmla="val 4412"/>
            </a:avLst>
          </a:prstGeom>
          <a:solidFill>
            <a:srgbClr val="F3F5F9"/>
          </a:solidFill>
          <a:ln w="12700">
            <a:solidFill>
              <a:srgbClr val="F3F5F9"/>
            </a:solidFill>
            <a:prstDash val="solid"/>
          </a:ln>
        </p:spPr>
      </p:sp>
      <p:sp>
        <p:nvSpPr>
          <p:cNvPr id="51" name="Text 49"/>
          <p:cNvSpPr txBox="1"/>
          <p:nvPr/>
        </p:nvSpPr>
        <p:spPr>
          <a:xfrm>
            <a:off x="9753356" y="1901952"/>
            <a:ext cx="170681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ThoughtSpot</a:t>
            </a:r>
            <a:endParaRPr lang="en-US" sz="1500" dirty="0"/>
          </a:p>
        </p:txBody>
      </p:sp>
      <p:sp>
        <p:nvSpPr>
          <p:cNvPr id="52" name="Text 50"/>
          <p:cNvSpPr txBox="1"/>
          <p:nvPr/>
        </p:nvSpPr>
        <p:spPr>
          <a:xfrm>
            <a:off x="9753356" y="2267712"/>
            <a:ext cx="170681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F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items  </a:t>
            </a:r>
            <a:pPr indent="0" marL="0">
              <a:buNone/>
            </a:pPr>
            <a:r>
              <a:rPr lang="en-US" sz="1100" dirty="0">
                <a:solidFill>
                  <a:srgbClr val="2E9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●4 </a:t>
            </a:r>
            <a:endParaRPr lang="en-US" sz="1100" dirty="0"/>
          </a:p>
        </p:txBody>
      </p:sp>
      <p:sp>
        <p:nvSpPr>
          <p:cNvPr id="53" name="Shape 51"/>
          <p:cNvSpPr/>
          <p:nvPr/>
        </p:nvSpPr>
        <p:spPr>
          <a:xfrm>
            <a:off x="9753356" y="2752344"/>
            <a:ext cx="146304" cy="146304"/>
          </a:xfrm>
          <a:prstGeom prst="ellipse">
            <a:avLst/>
          </a:prstGeom>
          <a:solidFill>
            <a:srgbClr val="2E9E6B"/>
          </a:solidFill>
          <a:ln w="12700">
            <a:solidFill>
              <a:srgbClr val="2E9E6B"/>
            </a:solidFill>
            <a:prstDash val="solid"/>
          </a:ln>
        </p:spPr>
      </p:sp>
      <p:sp>
        <p:nvSpPr>
          <p:cNvPr id="54" name="Text 52"/>
          <p:cNvSpPr txBox="1"/>
          <p:nvPr/>
        </p:nvSpPr>
        <p:spPr>
          <a:xfrm>
            <a:off x="9991100" y="2697480"/>
            <a:ext cx="1505651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ThoughtSpot on gold layer</a:t>
            </a:r>
            <a:endParaRPr lang="en-US" sz="1200" dirty="0"/>
          </a:p>
          <a:p>
            <a:pPr indent="0" marL="0">
              <a:buNone/>
            </a:pPr>
            <a:r>
              <a:rPr lang="en-US" sz="1000" dirty="0">
                <a:solidFill>
                  <a:srgbClr val="5F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Due Nov 4</a:t>
            </a:r>
            <a:endParaRPr lang="en-US" sz="1200" dirty="0"/>
          </a:p>
        </p:txBody>
      </p:sp>
      <p:sp>
        <p:nvSpPr>
          <p:cNvPr id="55" name="Shape 53"/>
          <p:cNvSpPr/>
          <p:nvPr/>
        </p:nvSpPr>
        <p:spPr>
          <a:xfrm>
            <a:off x="9753356" y="3410712"/>
            <a:ext cx="146304" cy="146304"/>
          </a:xfrm>
          <a:prstGeom prst="ellipse">
            <a:avLst/>
          </a:prstGeom>
          <a:solidFill>
            <a:srgbClr val="2E9E6B"/>
          </a:solidFill>
          <a:ln w="12700">
            <a:solidFill>
              <a:srgbClr val="2E9E6B"/>
            </a:solidFill>
            <a:prstDash val="solid"/>
          </a:ln>
        </p:spPr>
      </p:sp>
      <p:sp>
        <p:nvSpPr>
          <p:cNvPr id="56" name="Text 54"/>
          <p:cNvSpPr txBox="1"/>
          <p:nvPr/>
        </p:nvSpPr>
        <p:spPr>
          <a:xfrm>
            <a:off x="9991100" y="3355848"/>
            <a:ext cx="1505651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Liveboard version control</a:t>
            </a:r>
            <a:endParaRPr lang="en-US" sz="1200" dirty="0"/>
          </a:p>
          <a:p>
            <a:pPr indent="0" marL="0">
              <a:buNone/>
            </a:pPr>
            <a:r>
              <a:rPr lang="en-US" sz="1000" dirty="0">
                <a:solidFill>
                  <a:srgbClr val="5F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Due Nov 4</a:t>
            </a:r>
            <a:endParaRPr lang="en-US" sz="1200" dirty="0"/>
          </a:p>
        </p:txBody>
      </p:sp>
      <p:sp>
        <p:nvSpPr>
          <p:cNvPr id="57" name="Shape 55"/>
          <p:cNvSpPr/>
          <p:nvPr/>
        </p:nvSpPr>
        <p:spPr>
          <a:xfrm>
            <a:off x="9753356" y="4069080"/>
            <a:ext cx="146304" cy="146304"/>
          </a:xfrm>
          <a:prstGeom prst="ellipse">
            <a:avLst/>
          </a:prstGeom>
          <a:solidFill>
            <a:srgbClr val="2E9E6B"/>
          </a:solidFill>
          <a:ln w="12700">
            <a:solidFill>
              <a:srgbClr val="2E9E6B"/>
            </a:solidFill>
            <a:prstDash val="solid"/>
          </a:ln>
        </p:spPr>
      </p:sp>
      <p:sp>
        <p:nvSpPr>
          <p:cNvPr id="58" name="Text 56"/>
          <p:cNvSpPr txBox="1"/>
          <p:nvPr/>
        </p:nvSpPr>
        <p:spPr>
          <a:xfrm>
            <a:off x="9991100" y="4014216"/>
            <a:ext cx="1505651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Spotter rollout to ops</a:t>
            </a:r>
            <a:endParaRPr lang="en-US" sz="1200" dirty="0"/>
          </a:p>
          <a:p>
            <a:pPr indent="0" marL="0">
              <a:buNone/>
            </a:pPr>
            <a:r>
              <a:rPr lang="en-US" sz="1000" dirty="0">
                <a:solidFill>
                  <a:srgbClr val="5F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Due Nov 13</a:t>
            </a:r>
            <a:endParaRPr lang="en-US" sz="1200" dirty="0"/>
          </a:p>
        </p:txBody>
      </p:sp>
      <p:sp>
        <p:nvSpPr>
          <p:cNvPr id="59" name="Shape 57"/>
          <p:cNvSpPr/>
          <p:nvPr/>
        </p:nvSpPr>
        <p:spPr>
          <a:xfrm>
            <a:off x="9753356" y="4727448"/>
            <a:ext cx="146304" cy="146304"/>
          </a:xfrm>
          <a:prstGeom prst="ellipse">
            <a:avLst/>
          </a:prstGeom>
          <a:solidFill>
            <a:srgbClr val="2E9E6B"/>
          </a:solidFill>
          <a:ln w="12700">
            <a:solidFill>
              <a:srgbClr val="2E9E6B"/>
            </a:solidFill>
            <a:prstDash val="solid"/>
          </a:ln>
        </p:spPr>
      </p:sp>
      <p:sp>
        <p:nvSpPr>
          <p:cNvPr id="60" name="Text 58"/>
          <p:cNvSpPr txBox="1"/>
          <p:nvPr/>
        </p:nvSpPr>
        <p:spPr>
          <a:xfrm>
            <a:off x="9991100" y="4672584"/>
            <a:ext cx="1505651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ThoughtSpot SSO + access</a:t>
            </a:r>
            <a:endParaRPr lang="en-US" sz="1200" dirty="0"/>
          </a:p>
          <a:p>
            <a:pPr indent="0" marL="0">
              <a:buNone/>
            </a:pPr>
            <a:r>
              <a:rPr lang="en-US" sz="1000" dirty="0">
                <a:solidFill>
                  <a:srgbClr val="5F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Due Nov 6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F6B8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0A9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LOOKING AHEAD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76656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in-flight work lands by mid-November; next four items are queued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737360"/>
            <a:ext cx="6766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Milestones due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731520" y="2880360"/>
            <a:ext cx="6400800" cy="0"/>
          </a:xfrm>
          <a:prstGeom prst="line">
            <a:avLst/>
          </a:prstGeom>
          <a:noFill/>
          <a:ln w="25400">
            <a:solidFill>
              <a:srgbClr val="D9DEE7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228600" y="219456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 4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49224" y="2752344"/>
            <a:ext cx="256032" cy="256032"/>
          </a:xfrm>
          <a:prstGeom prst="ellipse">
            <a:avLst/>
          </a:prstGeom>
          <a:solidFill>
            <a:srgbClr val="2E9E6B"/>
          </a:solidFill>
          <a:ln w="12700">
            <a:solidFill>
              <a:srgbClr val="2E9E6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28600" y="310896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F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due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2209800" y="219456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 6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2630424" y="2752344"/>
            <a:ext cx="256032" cy="256032"/>
          </a:xfrm>
          <a:prstGeom prst="ellipse">
            <a:avLst/>
          </a:prstGeom>
          <a:solidFill>
            <a:srgbClr val="2E9E6B"/>
          </a:solidFill>
          <a:ln w="12700">
            <a:solidFill>
              <a:srgbClr val="2E9E6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209800" y="310896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F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due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191000" y="219456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 13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611624" y="2752344"/>
            <a:ext cx="256032" cy="256032"/>
          </a:xfrm>
          <a:prstGeom prst="ellipse">
            <a:avLst/>
          </a:prstGeom>
          <a:solidFill>
            <a:srgbClr val="E89B00"/>
          </a:solidFill>
          <a:ln w="12700">
            <a:solidFill>
              <a:srgbClr val="E89B0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191000" y="310896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F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due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6172200" y="219456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 20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592824" y="2752344"/>
            <a:ext cx="256032" cy="256032"/>
          </a:xfrm>
          <a:prstGeom prst="ellipse">
            <a:avLst/>
          </a:prstGeom>
          <a:solidFill>
            <a:srgbClr val="D64545"/>
          </a:solidFill>
          <a:ln w="12700">
            <a:solidFill>
              <a:srgbClr val="D64545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172200" y="310896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F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due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548640" y="3429000"/>
            <a:ext cx="6766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F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milestones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48640" y="3849624"/>
            <a:ext cx="146304" cy="146304"/>
          </a:xfrm>
          <a:prstGeom prst="ellipse">
            <a:avLst/>
          </a:prstGeom>
          <a:solidFill>
            <a:srgbClr val="2E9E6B"/>
          </a:solidFill>
          <a:ln w="12700">
            <a:solidFill>
              <a:srgbClr val="2E9E6B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22960" y="3794760"/>
            <a:ext cx="822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 6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1645920" y="3794760"/>
            <a:ext cx="5669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Unity Catalog migration  ·  Databricks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48640" y="4306824"/>
            <a:ext cx="146304" cy="146304"/>
          </a:xfrm>
          <a:prstGeom prst="ellipse">
            <a:avLst/>
          </a:prstGeom>
          <a:solidFill>
            <a:srgbClr val="E89B00"/>
          </a:solidFill>
          <a:ln w="12700">
            <a:solidFill>
              <a:srgbClr val="E89B00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822960" y="4251960"/>
            <a:ext cx="822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 13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1645920" y="4251960"/>
            <a:ext cx="5669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P-SKU to F-SKU migration  ·  Power BI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548640" y="4764024"/>
            <a:ext cx="146304" cy="146304"/>
          </a:xfrm>
          <a:prstGeom prst="ellipse">
            <a:avLst/>
          </a:prstGeom>
          <a:solidFill>
            <a:srgbClr val="E89B00"/>
          </a:solidFill>
          <a:ln w="12700">
            <a:solidFill>
              <a:srgbClr val="E89B00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822960" y="4709160"/>
            <a:ext cx="822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 13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1645920" y="4709160"/>
            <a:ext cx="5669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SSO + SCIM  ·  Claude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548640" y="5221224"/>
            <a:ext cx="146304" cy="146304"/>
          </a:xfrm>
          <a:prstGeom prst="ellipse">
            <a:avLst/>
          </a:prstGeom>
          <a:solidFill>
            <a:srgbClr val="D64545"/>
          </a:solidFill>
          <a:ln w="12700">
            <a:solidFill>
              <a:srgbClr val="D64545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822960" y="5166360"/>
            <a:ext cx="822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 20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1645920" y="5166360"/>
            <a:ext cx="5669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Code pilot  ·  Claude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548640" y="5678424"/>
            <a:ext cx="146304" cy="146304"/>
          </a:xfrm>
          <a:prstGeom prst="ellipse">
            <a:avLst/>
          </a:prstGeom>
          <a:solidFill>
            <a:srgbClr val="E89B00"/>
          </a:solidFill>
          <a:ln w="12700">
            <a:solidFill>
              <a:srgbClr val="E89B00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822960" y="5623560"/>
            <a:ext cx="822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 20</a:t>
            </a:r>
            <a:endParaRPr lang="en-US" sz="1200" dirty="0"/>
          </a:p>
        </p:txBody>
      </p:sp>
      <p:sp>
        <p:nvSpPr>
          <p:cNvPr id="33" name="Text 31"/>
          <p:cNvSpPr txBox="1"/>
          <p:nvPr/>
        </p:nvSpPr>
        <p:spPr>
          <a:xfrm>
            <a:off x="1645920" y="5623560"/>
            <a:ext cx="5669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 Q&amp;A data agent  ·  Microsoft Fabric</a:t>
            </a:r>
            <a:endParaRPr lang="en-US" sz="1200" dirty="0"/>
          </a:p>
        </p:txBody>
      </p:sp>
      <p:sp>
        <p:nvSpPr>
          <p:cNvPr id="34" name="next-up"/>
          <p:cNvSpPr/>
          <p:nvPr/>
        </p:nvSpPr>
        <p:spPr>
          <a:xfrm>
            <a:off x="7726680" y="1737360"/>
            <a:ext cx="3916375" cy="4434840"/>
          </a:xfrm>
          <a:prstGeom prst="roundRect">
            <a:avLst>
              <a:gd name="adj" fmla="val 2335"/>
            </a:avLst>
          </a:prstGeom>
          <a:solidFill>
            <a:srgbClr val="0F1E3D"/>
          </a:solidFill>
          <a:ln w="12700">
            <a:solidFill>
              <a:srgbClr val="0F1E3D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8001000" y="1920240"/>
            <a:ext cx="33677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up from the backlog</a:t>
            </a:r>
            <a:endParaRPr lang="en-US" sz="1600" dirty="0"/>
          </a:p>
        </p:txBody>
      </p:sp>
      <p:sp>
        <p:nvSpPr>
          <p:cNvPr id="36" name="Text 34"/>
          <p:cNvSpPr txBox="1"/>
          <p:nvPr/>
        </p:nvSpPr>
        <p:spPr>
          <a:xfrm>
            <a:off x="8001000" y="2468880"/>
            <a:ext cx="33677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 Liveboards into customer portal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B8C4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ThoughtSpot  ·  Differentiated customer experience; premium analytics upsell</a:t>
            </a:r>
            <a:endParaRPr lang="en-US" sz="1300" dirty="0"/>
          </a:p>
        </p:txBody>
      </p:sp>
      <p:sp>
        <p:nvSpPr>
          <p:cNvPr id="37" name="Text 35"/>
          <p:cNvSpPr txBox="1"/>
          <p:nvPr/>
        </p:nvSpPr>
        <p:spPr>
          <a:xfrm>
            <a:off x="8001000" y="3383280"/>
            <a:ext cx="33677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Bricks shipment-exception triage agent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B8C4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Databricks  ·  Target 50% less manual exception triage; faster customer alerts</a:t>
            </a:r>
            <a:endParaRPr lang="en-US" sz="1300" dirty="0"/>
          </a:p>
        </p:txBody>
      </p:sp>
      <p:sp>
        <p:nvSpPr>
          <p:cNvPr id="38" name="Text 36"/>
          <p:cNvSpPr txBox="1"/>
          <p:nvPr/>
        </p:nvSpPr>
        <p:spPr>
          <a:xfrm>
            <a:off x="8001000" y="4297680"/>
            <a:ext cx="33677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Skills: MBR &amp; RFP response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B8C4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 ·  MBR prep time cut ~70%; faster, consistent RFP responses</a:t>
            </a:r>
            <a:endParaRPr lang="en-US" sz="1300" dirty="0"/>
          </a:p>
        </p:txBody>
      </p:sp>
      <p:sp>
        <p:nvSpPr>
          <p:cNvPr id="39" name="Text 37"/>
          <p:cNvSpPr txBox="1"/>
          <p:nvPr/>
        </p:nvSpPr>
        <p:spPr>
          <a:xfrm>
            <a:off x="8001000" y="5212080"/>
            <a:ext cx="33677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AI/BI Genie spaces for Sales &amp; Service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B8C4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Databricks  ·  Self-service answers on bookings, churn and case volumes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F6B8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 &amp; AI Portfolio — Executive Update 2026-10-22</dc:title>
  <dc:subject>PptxGenJS Presentation</dc:subject>
  <dc:creator>Ron L'Esteve</dc:creator>
  <cp:lastModifiedBy>Ron L'Esteve</cp:lastModifiedBy>
  <cp:revision>1</cp:revision>
  <dcterms:created xsi:type="dcterms:W3CDTF">2026-10-22T21:26:23Z</dcterms:created>
  <dcterms:modified xsi:type="dcterms:W3CDTF">2026-10-22T21:26:23Z</dcterms:modified>
</cp:coreProperties>
</file>